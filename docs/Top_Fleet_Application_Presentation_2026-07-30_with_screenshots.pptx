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30352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Topwater Ethiopia | Fleet Operations Presentation | July 30,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8961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TOP Fleet 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1938528"/>
            <a:ext cx="8961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E2E8F0"/>
                </a:solidFill>
              </a:rPr>
              <a:t>Live Odoo trips, Mayet GPS tracking, payment control, and AI-style fleet decision support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886200"/>
            <a:ext cx="2057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2400" b="1">
                <a:solidFill>
                  <a:srgbClr val="0E9849"/>
                </a:solidFill>
              </a:defRPr>
            </a:pPr>
            <a:r>
              <a:t>423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Trips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63240" y="3886200"/>
            <a:ext cx="2057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2400" b="1">
                <a:solidFill>
                  <a:srgbClr val="00499E"/>
                </a:solidFill>
              </a:defRPr>
            </a:pPr>
            <a:r>
              <a:t>134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Vehicles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3886200"/>
            <a:ext cx="2057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2400" b="1">
                <a:solidFill>
                  <a:srgbClr val="F59E0B"/>
                </a:solidFill>
              </a:defRPr>
            </a:pPr>
            <a:r>
              <a:t>117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Journeys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3886200"/>
            <a:ext cx="2057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2400" b="1">
                <a:solidFill>
                  <a:srgbClr val="0E9849"/>
                </a:solidFill>
              </a:defRPr>
            </a:pPr>
            <a:r>
              <a:t>166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Mayet GPS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598932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Live operations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7863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</a:rPr>
              <a:t>What The Application Solves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70432"/>
            <a:ext cx="1143000" cy="45720"/>
          </a:xfrm>
          <a:prstGeom prst="rect">
            <a:avLst/>
          </a:prstGeom>
          <a:solidFill>
            <a:srgbClr val="0E9849"/>
          </a:solidFill>
          <a:ln>
            <a:solidFill>
              <a:srgbClr val="0E98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6812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Fleet data was spread across Odoo trips, payment requests, driver assignments, and Mayet GPS.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Managers needed a single place to see vehicle status, current location, trip progress, and payment risk.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The system now turns operational data into decisions: what to dispatch, what to collect, and what risk to fix first.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09560" y="1600200"/>
            <a:ext cx="33832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00499E"/>
                </a:solidFill>
              </a:defRPr>
            </a:pPr>
            <a:r>
              <a:t>Main screen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Overview, map, payments, detail, reports, and Fleet Agent are connected through the same live data model.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09560" y="2971800"/>
            <a:ext cx="33832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0E9849"/>
                </a:solidFill>
              </a:defRPr>
            </a:pPr>
            <a:r>
              <a:t>Operator action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Use the page to decide what to check, assign, collect, or escalate next.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257800"/>
            <a:ext cx="10515600" cy="685800"/>
          </a:xfrm>
          <a:prstGeom prst="roundRect">
            <a:avLst/>
          </a:prstGeom>
          <a:solidFill>
            <a:srgbClr val="EAF4FF"/>
          </a:solidFill>
          <a:ln>
            <a:solidFill>
              <a:srgbClr val="0049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600" b="1">
                <a:solidFill>
                  <a:srgbClr val="00499E"/>
                </a:solidFill>
              </a:defRPr>
            </a:pPr>
            <a:r>
              <a:t>Goal: move from manual checking to live control and faster revenue decisions.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TOP Fleet | Topwater Ethiopia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7863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</a:rPr>
              <a:t>Live Data Foundation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70432"/>
            <a:ext cx="1143000" cy="45720"/>
          </a:xfrm>
          <a:prstGeom prst="rect">
            <a:avLst/>
          </a:prstGeom>
          <a:solidFill>
            <a:srgbClr val="0E9849"/>
          </a:solidFill>
          <a:ln>
            <a:solidFill>
              <a:srgbClr val="0E98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2057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2400" b="1">
                <a:solidFill>
                  <a:srgbClr val="00499E"/>
                </a:solidFill>
              </a:defRPr>
            </a:pPr>
            <a:r>
              <a:t>423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Trips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1417320"/>
            <a:ext cx="2057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2400" b="1">
                <a:solidFill>
                  <a:srgbClr val="0E9849"/>
                </a:solidFill>
              </a:defRPr>
            </a:pPr>
            <a:r>
              <a:t>134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Vehicles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74920" y="1417320"/>
            <a:ext cx="2057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2400" b="1">
                <a:solidFill>
                  <a:srgbClr val="F59E0B"/>
                </a:solidFill>
              </a:defRPr>
            </a:pPr>
            <a:r>
              <a:t>117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Journeys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1417320"/>
            <a:ext cx="2057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2400" b="1">
                <a:solidFill>
                  <a:srgbClr val="DC2626"/>
                </a:solidFill>
              </a:defRPr>
            </a:pPr>
            <a:r>
              <a:t>166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Mayet GPS vehicles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104241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Vehicles come from Odoo fleet_vehicle.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Trips come from Odoo trip records and are grouped into journeys for route workflow views.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Mayet GPS provides live vehicle current-location overlays when the vehicle exists in the Mayet cache.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TOP Fleet | Topwater Ethiopia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510528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7863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</a:rP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70432"/>
            <a:ext cx="1143000" cy="45720"/>
          </a:xfrm>
          <a:prstGeom prst="rect">
            <a:avLst/>
          </a:prstGeom>
          <a:solidFill>
            <a:srgbClr val="0E9849"/>
          </a:solidFill>
          <a:ln>
            <a:solidFill>
              <a:srgbClr val="0E98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2035454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0049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Odoo DB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748686" y="2020824"/>
            <a:ext cx="109728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885846" y="1645920"/>
            <a:ext cx="2035454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0E98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FastAPI Backend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948732" y="2020824"/>
            <a:ext cx="109728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085892" y="1645920"/>
            <a:ext cx="2035454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0049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Redis GPS Cache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148779" y="2020824"/>
            <a:ext cx="109728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285939" y="1645920"/>
            <a:ext cx="2035454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0E98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Next.js Dashboard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348825" y="2020824"/>
            <a:ext cx="109728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485985" y="1645920"/>
            <a:ext cx="2035454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0049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Fleet Users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971800"/>
            <a:ext cx="102412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Backend reads Odoo trips, vehicles, payments, expenses, and supervisors.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Mayet worker stores latest GPS catalog and selected vehicle GPS lookups in Redis.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Frontend uses cached live dashboard data for fast page loads and focused detail views.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10528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TOP Fleet | Topwater Ethiopia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510528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7863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</a:rPr>
              <a:t>Overview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70432"/>
            <a:ext cx="1143000" cy="45720"/>
          </a:xfrm>
          <a:prstGeom prst="rect">
            <a:avLst/>
          </a:prstGeom>
          <a:solidFill>
            <a:srgbClr val="0E9849"/>
          </a:solidFill>
          <a:ln>
            <a:solidFill>
              <a:srgbClr val="0E98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6812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Shows high-level fleet totals, active journeys, revenue, expenses, payment state, and recent journeys.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Separates user-friendly concepts: Trips are Odoo records; Journeys are grouped route workflows.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Driver Assignment Conflicts are shown at the bottom so managers can resolve duplicate active driver usage.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09560" y="1600200"/>
            <a:ext cx="33832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00499E"/>
                </a:solidFill>
              </a:defRPr>
            </a:pPr>
            <a:r>
              <a:t>Main screen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Overview, map, payments, detail, reports, and Fleet Agent are connected through the same live data model.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09560" y="2971800"/>
            <a:ext cx="33832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0E9849"/>
                </a:solidFill>
              </a:defRPr>
            </a:pPr>
            <a:r>
              <a:t>Operator action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Use the page to decide what to check, assign, collect, or escalate next.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257800"/>
            <a:ext cx="10515600" cy="685800"/>
          </a:xfrm>
          <a:prstGeom prst="roundRect">
            <a:avLst/>
          </a:prstGeom>
          <a:solidFill>
            <a:srgbClr val="EAF4FF"/>
          </a:solidFill>
          <a:ln>
            <a:solidFill>
              <a:srgbClr val="0049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600" b="1">
                <a:solidFill>
                  <a:srgbClr val="00499E"/>
                </a:solidFill>
              </a:defRPr>
            </a:pPr>
            <a:r>
              <a:t>Current verified status: 423 trips, 134 vehicles, 3 driver conflicts.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TOP Fleet | Topwater Ethiopia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7863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</a:rPr>
              <a:t>Fleet Live 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70432"/>
            <a:ext cx="1143000" cy="45720"/>
          </a:xfrm>
          <a:prstGeom prst="rect">
            <a:avLst/>
          </a:prstGeom>
          <a:solidFill>
            <a:srgbClr val="0E9849"/>
          </a:solidFill>
          <a:ln>
            <a:solidFill>
              <a:srgbClr val="0E98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6812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Shows active orders, selected journey details, unassigned orders, and Mayet GPS vehicle markers.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Selected vehicle uses live Mayet GPS first, then falls back to dashboard route data if no Mayet match exists.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Vehicle plate search/copy uses the main number only, so inconsistent plate formats still match Mayet.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Mayet marker popups show readable location and telemetry when available, not raw coordinates as the main label.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09560" y="1600200"/>
            <a:ext cx="33832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00499E"/>
                </a:solidFill>
              </a:defRPr>
            </a:pPr>
            <a:r>
              <a:t>Main screen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Overview, map, payments, detail, reports, and Fleet Agent are connected through the same live data model.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09560" y="2971800"/>
            <a:ext cx="33832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0E9849"/>
                </a:solidFill>
              </a:defRPr>
            </a:pPr>
            <a:r>
              <a:t>Operator action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Use the page to decide what to check, assign, collect, or escalate next.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257800"/>
            <a:ext cx="10515600" cy="685800"/>
          </a:xfrm>
          <a:prstGeom prst="roundRect">
            <a:avLst/>
          </a:prstGeom>
          <a:solidFill>
            <a:srgbClr val="EAF4FF"/>
          </a:solidFill>
          <a:ln>
            <a:solidFill>
              <a:srgbClr val="0049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600" b="1">
                <a:solidFill>
                  <a:srgbClr val="00499E"/>
                </a:solidFill>
              </a:defRPr>
            </a:pPr>
            <a:r>
              <a:t>Map value: dispatchers can see where vehicles actually are before assigning 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TOP Fleet | Topwater Ethiopia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7863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</a:rPr>
              <a:t>Payment Control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70432"/>
            <a:ext cx="1143000" cy="45720"/>
          </a:xfrm>
          <a:prstGeom prst="rect">
            <a:avLst/>
          </a:prstGeom>
          <a:solidFill>
            <a:srgbClr val="0E9849"/>
          </a:solidFill>
          <a:ln>
            <a:solidFill>
              <a:srgbClr val="0E98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6812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Payment Requests page organizes customer, route, vehicle, supervisor, request lines, state, and total amount.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Long text is collapsed for readability, with expandable details when needed.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Payment Status with Customer Name summarizes customers, order trips, request total, paid, partial, pending, and pending ETB.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09560" y="1600200"/>
            <a:ext cx="33832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00499E"/>
                </a:solidFill>
              </a:defRPr>
            </a:pPr>
            <a:r>
              <a:t>Main screen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Overview, map, payments, detail, reports, and Fleet Agent are connected through the same live data model.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09560" y="2971800"/>
            <a:ext cx="33832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0E9849"/>
                </a:solidFill>
              </a:defRPr>
            </a:pPr>
            <a:r>
              <a:t>Operator action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Use the page to decide what to check, assign, collect, or escalate next.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257800"/>
            <a:ext cx="10515600" cy="685800"/>
          </a:xfrm>
          <a:prstGeom prst="roundRect">
            <a:avLst/>
          </a:prstGeom>
          <a:solidFill>
            <a:srgbClr val="EAF4FF"/>
          </a:solidFill>
          <a:ln>
            <a:solidFill>
              <a:srgbClr val="0049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600" b="1">
                <a:solidFill>
                  <a:srgbClr val="00499E"/>
                </a:solidFill>
              </a:defRPr>
            </a:pPr>
            <a:r>
              <a:t>Business value: collect before dispatch and reduce unpaid-trip exposure.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TOP Fleet | Topwater Ethiopia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7863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</a:rPr>
              <a:t>Journey Detail Page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70432"/>
            <a:ext cx="1143000" cy="45720"/>
          </a:xfrm>
          <a:prstGeom prst="rect">
            <a:avLst/>
          </a:prstGeom>
          <a:solidFill>
            <a:srgbClr val="0E9849"/>
          </a:solidFill>
          <a:ln>
            <a:solidFill>
              <a:srgbClr val="0E98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6812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Opens faster by using the same dashboard cache as the overview, then falls back to single journey fetch.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Top metrics include driver, speed, fuel, stop duration, revenue, paid, pending, expense, profit, and trip count.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Route trip legs and payment request lines are higher on the page; Timeline &amp; Location is moved to the bottom.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09560" y="1600200"/>
            <a:ext cx="33832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00499E"/>
                </a:solidFill>
              </a:defRPr>
            </a:pPr>
            <a:r>
              <a:t>Main screen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Overview, map, payments, detail, reports, and Fleet Agent are connected through the same live data model.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09560" y="2971800"/>
            <a:ext cx="33832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0E9849"/>
                </a:solidFill>
              </a:defRPr>
            </a:pPr>
            <a:r>
              <a:t>Operator action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Use the page to decide what to check, assign, collect, or escalate next.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TOP Fleet | Topwater Ethiopia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10528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7863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</a:rPr>
              <a:t>Fleet Agent &amp; Logistics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70432"/>
            <a:ext cx="1143000" cy="45720"/>
          </a:xfrm>
          <a:prstGeom prst="rect">
            <a:avLst/>
          </a:prstGeom>
          <a:solidFill>
            <a:srgbClr val="0E9849"/>
          </a:solidFill>
          <a:ln>
            <a:solidFill>
              <a:srgbClr val="0E98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6812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New page: /planner, also available from the sidebar as Fleet Agent.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Quick Teller answers questions by plate, driver, GPS, idle vehicles, driver conflicts, and revenue opportunity.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Logistics plan analyzes live journeys, Mayet GPS, payments, margins, and conflicts to suggest decisions.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Cluster analysis highlights when many Mayet vehicles are stacked in one area on the map.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09560" y="1600200"/>
            <a:ext cx="33832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00499E"/>
                </a:solidFill>
              </a:defRPr>
            </a:pPr>
            <a:r>
              <a:t>Main screen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Overview, map, payments, detail, reports, and Fleet Agent are connected through the same live data model.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09560" y="2971800"/>
            <a:ext cx="33832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0E9849"/>
                </a:solidFill>
              </a:defRPr>
            </a:pPr>
            <a:r>
              <a:t>Operator action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Use the page to decide what to check, assign, collect, or escalate next.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257800"/>
            <a:ext cx="10515600" cy="685800"/>
          </a:xfrm>
          <a:prstGeom prst="roundRect">
            <a:avLst/>
          </a:prstGeom>
          <a:solidFill>
            <a:srgbClr val="EAF4FF"/>
          </a:solidFill>
          <a:ln>
            <a:solidFill>
              <a:srgbClr val="0049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600" b="1">
                <a:solidFill>
                  <a:srgbClr val="00499E"/>
                </a:solidFill>
              </a:defRPr>
            </a:pPr>
            <a:r>
              <a:t>This is the first operational decision layer on top of the fleet dashboard.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TOP Fleet | Topwater Ethiopia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7863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</a:rPr>
              <a:t>Decision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70432"/>
            <a:ext cx="1143000" cy="45720"/>
          </a:xfrm>
          <a:prstGeom prst="rect">
            <a:avLst/>
          </a:prstGeom>
          <a:solidFill>
            <a:srgbClr val="0E9849"/>
          </a:solidFill>
          <a:ln>
            <a:solidFill>
              <a:srgbClr val="0E98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2035454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0049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Collect pending ETB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748686" y="2020824"/>
            <a:ext cx="109728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885846" y="1645920"/>
            <a:ext cx="2035454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0E98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Assign available capacity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948732" y="2020824"/>
            <a:ext cx="109728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085892" y="1645920"/>
            <a:ext cx="2035454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0049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Protect high-value routes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148779" y="2020824"/>
            <a:ext cx="109728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285939" y="1645920"/>
            <a:ext cx="2035454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0E98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Fix conflicts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348825" y="2020824"/>
            <a:ext cx="109728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485985" y="1645920"/>
            <a:ext cx="2035454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0049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Track GPS gaps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971800"/>
            <a:ext cx="102412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Collect before dispatch: payment-risk journeys are pushed into the action queue.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Assign available capacity: idle or draft vehicles are surfaced for next revenue work.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Protect top routes: high-net journeys are prioritized for follow-up and tracking.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Fix conflicts: same-driver/multiple-vehicle issues become visible before they damage execution.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10528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TOP Fleet | Topwater Ethiopia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510528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7863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</a:rPr>
              <a:t>How It Improves Revenue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70432"/>
            <a:ext cx="1143000" cy="45720"/>
          </a:xfrm>
          <a:prstGeom prst="rect">
            <a:avLst/>
          </a:prstGeom>
          <a:solidFill>
            <a:srgbClr val="0E9849"/>
          </a:solidFill>
          <a:ln>
            <a:solidFill>
              <a:srgbClr val="0E98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2057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2400" b="1">
                <a:solidFill>
                  <a:srgbClr val="00499E"/>
                </a:solidFill>
              </a:defRPr>
            </a:pPr>
            <a:r>
              <a:t>Collect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Cash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1417320"/>
            <a:ext cx="2057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2400" b="1">
                <a:solidFill>
                  <a:srgbClr val="0E9849"/>
                </a:solidFill>
              </a:defRPr>
            </a:pPr>
            <a:r>
              <a:t>Assign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Utilization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74920" y="1417320"/>
            <a:ext cx="2057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2400" b="1">
                <a:solidFill>
                  <a:srgbClr val="F59E0B"/>
                </a:solidFill>
              </a:defRPr>
            </a:pPr>
            <a:r>
              <a:t>Protect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Margin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1417320"/>
            <a:ext cx="2057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2400" b="1">
                <a:solidFill>
                  <a:srgbClr val="DC2626"/>
                </a:solidFill>
              </a:defRPr>
            </a:pPr>
            <a:r>
              <a:t>Fix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104241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Shortens the time from status check to dispatch decision.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Uses GPS clusters to choose nearby available vehicles instead of sending far vehicles.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Flags payment and assignment problems before a new trip creates more exposure.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Keeps profitable routes visible so operations protect the revenue already in motion.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TOP Fleet | Topwater Ethiopia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510528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7863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</a:rPr>
              <a:t>Demo Flow For Presentation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70432"/>
            <a:ext cx="1143000" cy="45720"/>
          </a:xfrm>
          <a:prstGeom prst="rect">
            <a:avLst/>
          </a:prstGeom>
          <a:solidFill>
            <a:srgbClr val="0E9849"/>
          </a:solidFill>
          <a:ln>
            <a:solidFill>
              <a:srgbClr val="0E98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6812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1. Start on Overview: show total trips, vehicles, active journeys, and real Odoo source.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2. Open Fleet Live Map: select a vehicle, show Mayet marker, Active Orders, and Selected Journey.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3. Open Detail: show revenue, pending payment, route legs, telemetry, and timeline at the bottom.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4. Open Payment Requests: show searchable request table and customer payment status summary.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5. Open Fleet Agent: ask about a plate, driver conflicts, idle vehicles, and revenue opportunities.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09560" y="1600200"/>
            <a:ext cx="33832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00499E"/>
                </a:solidFill>
              </a:defRPr>
            </a:pPr>
            <a:r>
              <a:t>Main screen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Overview, map, payments, detail, reports, and Fleet Agent are connected through the same live data model.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09560" y="2971800"/>
            <a:ext cx="33832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0E9849"/>
                </a:solidFill>
              </a:defRPr>
            </a:pPr>
            <a:r>
              <a:t>Operator action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Use the page to decide what to check, assign, collect, or escalate next.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TOP Fleet | Topwater Ethiopia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10528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7863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</a:rPr>
              <a:t>Known Data Rules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70432"/>
            <a:ext cx="1143000" cy="45720"/>
          </a:xfrm>
          <a:prstGeom prst="rect">
            <a:avLst/>
          </a:prstGeom>
          <a:solidFill>
            <a:srgbClr val="0E9849"/>
          </a:solidFill>
          <a:ln>
            <a:solidFill>
              <a:srgbClr val="0E98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6812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If Mayet has no GPS record for an Odoo vehicle, the app clearly shows no Mayet match instead of pretending route data is GPS.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Speed, fuel, and stop duration show only when Mayet provides them; otherwise the UI shows N/A.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The app avoids exposing database model names to users: users see Trips and Journeys.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The API requires login, so live data is visible only after authentication.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09560" y="1600200"/>
            <a:ext cx="33832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00499E"/>
                </a:solidFill>
              </a:defRPr>
            </a:pPr>
            <a:r>
              <a:t>Main screen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Overview, map, payments, detail, reports, and Fleet Agent are connected through the same live data model.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09560" y="2971800"/>
            <a:ext cx="33832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0E9849"/>
                </a:solidFill>
              </a:defRPr>
            </a:pPr>
            <a:r>
              <a:t>Operator action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Use the page to decide what to check, assign, collect, or escalate next.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TOP Fleet | Topwater Ethiopia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10528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7863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</a:rPr>
              <a:t>Next Improvements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70432"/>
            <a:ext cx="1143000" cy="45720"/>
          </a:xfrm>
          <a:prstGeom prst="rect">
            <a:avLst/>
          </a:prstGeom>
          <a:solidFill>
            <a:srgbClr val="0E9849"/>
          </a:solidFill>
          <a:ln>
            <a:solidFill>
              <a:srgbClr val="0E98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6812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Add automatic suggested dispatch assignments by nearest available GPS vehicle and destination demand.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Add daily operations report export from Fleet Agent recommendations.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Add alerts for long stop duration, stale GPS, duplicate driver assignment, and unpaid high-value trips.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Add manager approval workflow for dispatch suggestions before assignment changes are pushed back to Odoo.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09560" y="1600200"/>
            <a:ext cx="33832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00499E"/>
                </a:solidFill>
              </a:defRPr>
            </a:pPr>
            <a:r>
              <a:t>Main screen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Overview, map, payments, detail, reports, and Fleet Agent are connected through the same live data model.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09560" y="2971800"/>
            <a:ext cx="33832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0E9849"/>
                </a:solidFill>
              </a:defRPr>
            </a:pPr>
            <a:r>
              <a:t>Operator action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Use the page to decide what to check, assign, collect, or escalate next.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257800"/>
            <a:ext cx="10515600" cy="685800"/>
          </a:xfrm>
          <a:prstGeom prst="roundRect">
            <a:avLst/>
          </a:prstGeom>
          <a:solidFill>
            <a:srgbClr val="EAF4FF"/>
          </a:solidFill>
          <a:ln>
            <a:solidFill>
              <a:srgbClr val="0049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600" b="1">
                <a:solidFill>
                  <a:srgbClr val="00499E"/>
                </a:solidFill>
              </a:defRPr>
            </a:pPr>
            <a:r>
              <a:t>Recommended next step: convert Fleet Agent suggestions into approved dispatch actions.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TOP Fleet | Topwater Ethiopia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</a:rPr>
              <a:t>Live Application View - Overview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667512"/>
            <a:ext cx="8961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Real Odoo trip and vehicle summary, recent journeys, Mayet current locations, and conflict visibility.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0120"/>
            <a:ext cx="1005840" cy="41148"/>
          </a:xfrm>
          <a:prstGeom prst="rect">
            <a:avLst/>
          </a:prstGeom>
          <a:solidFill>
            <a:srgbClr val="00499E"/>
          </a:solidFill>
          <a:ln>
            <a:solidFill>
              <a:srgbClr val="0049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1120140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298448"/>
            <a:ext cx="10881360" cy="4828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510528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TOP Fleet | Live application screenshot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1052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</a:rPr>
              <a:t>Live Application View - Fleet Live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667512"/>
            <a:ext cx="8961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Mayet GPS vehicle markers, active orders, selected journey, and live location popup.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0120"/>
            <a:ext cx="1005840" cy="41148"/>
          </a:xfrm>
          <a:prstGeom prst="rect">
            <a:avLst/>
          </a:prstGeom>
          <a:solidFill>
            <a:srgbClr val="00499E"/>
          </a:solidFill>
          <a:ln>
            <a:solidFill>
              <a:srgbClr val="0049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1120140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298448"/>
            <a:ext cx="10881360" cy="4828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510528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TOP Fleet | Live application screenshot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1052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</a:rPr>
              <a:t>Live Application View - Payment Requests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667512"/>
            <a:ext cx="8961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Payment request table, customer payment status, searchable rows, and collection follow-up view.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0120"/>
            <a:ext cx="1005840" cy="41148"/>
          </a:xfrm>
          <a:prstGeom prst="rect">
            <a:avLst/>
          </a:prstGeom>
          <a:solidFill>
            <a:srgbClr val="00499E"/>
          </a:solidFill>
          <a:ln>
            <a:solidFill>
              <a:srgbClr val="0049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1120140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ay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298448"/>
            <a:ext cx="10881360" cy="4828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510528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TOP Fleet | Live application screenshot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1052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</a:rPr>
              <a:t>Live Application View - Fleet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667512"/>
            <a:ext cx="8961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Suggested logistics plan, GPS clusters, revenue decision queue, and quick vehicle-status teller.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0120"/>
            <a:ext cx="1005840" cy="41148"/>
          </a:xfrm>
          <a:prstGeom prst="rect">
            <a:avLst/>
          </a:prstGeom>
          <a:solidFill>
            <a:srgbClr val="00499E"/>
          </a:solidFill>
          <a:ln>
            <a:solidFill>
              <a:srgbClr val="0049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1120140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l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298448"/>
            <a:ext cx="10881360" cy="4828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510528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TOP Fleet | Live application screenshot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1052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</a:rPr>
              <a:t>Live Application View - Journey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667512"/>
            <a:ext cx="8961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Journey metrics, telemetry placeholders, route trip legs, payment lines, and timeline/location detail.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0120"/>
            <a:ext cx="1005840" cy="41148"/>
          </a:xfrm>
          <a:prstGeom prst="rect">
            <a:avLst/>
          </a:prstGeom>
          <a:solidFill>
            <a:srgbClr val="00499E"/>
          </a:solidFill>
          <a:ln>
            <a:solidFill>
              <a:srgbClr val="0049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1120140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298448"/>
            <a:ext cx="10881360" cy="4828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510528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TOP Fleet | Live application screenshot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1052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